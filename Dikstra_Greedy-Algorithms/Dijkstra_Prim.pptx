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ADF8-D55B-4EDC-808B-8BFDCEF05DF7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94071-CECF-441B-986B-1C82F2D6B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557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ADF8-D55B-4EDC-808B-8BFDCEF05DF7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2294071-CECF-441B-986B-1C82F2D6B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00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ADF8-D55B-4EDC-808B-8BFDCEF05DF7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94071-CECF-441B-986B-1C82F2D6B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02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ADF8-D55B-4EDC-808B-8BFDCEF05DF7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94071-CECF-441B-986B-1C82F2D6B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45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ADF8-D55B-4EDC-808B-8BFDCEF05DF7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94071-CECF-441B-986B-1C82F2D6B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548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ADF8-D55B-4EDC-808B-8BFDCEF05DF7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94071-CECF-441B-986B-1C82F2D6B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60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ADF8-D55B-4EDC-808B-8BFDCEF05DF7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94071-CECF-441B-986B-1C82F2D6B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947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ADF8-D55B-4EDC-808B-8BFDCEF05DF7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94071-CECF-441B-986B-1C82F2D6B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79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ADF8-D55B-4EDC-808B-8BFDCEF05DF7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94071-CECF-441B-986B-1C82F2D6B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086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ADF8-D55B-4EDC-808B-8BFDCEF05DF7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94071-CECF-441B-986B-1C82F2D6B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057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ADF8-D55B-4EDC-808B-8BFDCEF05DF7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94071-CECF-441B-986B-1C82F2D6B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29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ADF8-D55B-4EDC-808B-8BFDCEF05DF7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94071-CECF-441B-986B-1C82F2D6B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46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ADF8-D55B-4EDC-808B-8BFDCEF05DF7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94071-CECF-441B-986B-1C82F2D6B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44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ADF8-D55B-4EDC-808B-8BFDCEF05DF7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94071-CECF-441B-986B-1C82F2D6B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23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ADF8-D55B-4EDC-808B-8BFDCEF05DF7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94071-CECF-441B-986B-1C82F2D6B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935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ADF8-D55B-4EDC-808B-8BFDCEF05DF7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94071-CECF-441B-986B-1C82F2D6B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3739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ADF8-D55B-4EDC-808B-8BFDCEF05DF7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94071-CECF-441B-986B-1C82F2D6B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582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6E2ADF8-D55B-4EDC-808B-8BFDCEF05DF7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2294071-CECF-441B-986B-1C82F2D6B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931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66AEAD-02F6-4BDC-BDC8-6A5BB6C070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1704" b="25949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EC4C41-9AA3-408C-B860-2D3DC6D4E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DIJKSTRA’S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BB3DB1-48E2-4C3D-ABB3-C6EA35C7D4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8642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7B3AF-2BC2-4084-B8DA-87DB01848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78478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</a:rPr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AFD35-CAF2-4E41-8ED2-0A7FE8CA5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046" y="2022790"/>
            <a:ext cx="10691446" cy="4355494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First Developed by “</a:t>
            </a:r>
            <a:r>
              <a:rPr lang="en-US" sz="2000" b="1" dirty="0">
                <a:solidFill>
                  <a:schemeClr val="tx2"/>
                </a:solidFill>
              </a:rPr>
              <a:t>Edsger W, Dijkstra”</a:t>
            </a:r>
            <a:r>
              <a:rPr lang="en-US" sz="2000" dirty="0">
                <a:solidFill>
                  <a:schemeClr val="tx2"/>
                </a:solidFill>
              </a:rPr>
              <a:t> in 1956.</a:t>
            </a:r>
          </a:p>
          <a:p>
            <a:r>
              <a:rPr lang="en-US" sz="2000" dirty="0">
                <a:solidFill>
                  <a:schemeClr val="tx2"/>
                </a:solidFill>
              </a:rPr>
              <a:t>Implements Greedy Approach.</a:t>
            </a:r>
          </a:p>
          <a:p>
            <a:r>
              <a:rPr lang="en-US" sz="2000" dirty="0">
                <a:solidFill>
                  <a:schemeClr val="tx2"/>
                </a:solidFill>
              </a:rPr>
              <a:t>Single Source Shortest Paths (SSSP).</a:t>
            </a:r>
          </a:p>
          <a:p>
            <a:r>
              <a:rPr lang="en-US" sz="2000" dirty="0">
                <a:solidFill>
                  <a:schemeClr val="tx2"/>
                </a:solidFill>
              </a:rPr>
              <a:t>Every Edge comes with a cost.</a:t>
            </a:r>
          </a:p>
          <a:p>
            <a:r>
              <a:rPr lang="en-US" sz="2000" dirty="0">
                <a:solidFill>
                  <a:schemeClr val="tx2"/>
                </a:solidFill>
              </a:rPr>
              <a:t>Generates shortest path from source to all available destinations.</a:t>
            </a:r>
          </a:p>
          <a:p>
            <a:r>
              <a:rPr lang="en-US" sz="2000" dirty="0">
                <a:solidFill>
                  <a:schemeClr val="tx2"/>
                </a:solidFill>
              </a:rPr>
              <a:t>Applications:</a:t>
            </a:r>
          </a:p>
          <a:p>
            <a:pPr lvl="1"/>
            <a:r>
              <a:rPr lang="en-US" sz="1600" dirty="0">
                <a:solidFill>
                  <a:schemeClr val="tx2"/>
                </a:solidFill>
              </a:rPr>
              <a:t>Google Maps</a:t>
            </a:r>
          </a:p>
          <a:p>
            <a:pPr lvl="1"/>
            <a:r>
              <a:rPr lang="en-US" sz="1600" dirty="0">
                <a:solidFill>
                  <a:schemeClr val="tx2"/>
                </a:solidFill>
              </a:rPr>
              <a:t>Routing packets on the Internet</a:t>
            </a:r>
          </a:p>
          <a:p>
            <a:pPr lvl="1"/>
            <a:r>
              <a:rPr lang="en-US" sz="1600" dirty="0">
                <a:solidFill>
                  <a:schemeClr val="tx2"/>
                </a:solidFill>
              </a:rPr>
              <a:t>Social Networks</a:t>
            </a:r>
          </a:p>
          <a:p>
            <a:endParaRPr lang="en-US" sz="2000" dirty="0">
              <a:solidFill>
                <a:schemeClr val="tx2"/>
              </a:solidFill>
            </a:endParaRPr>
          </a:p>
          <a:p>
            <a:endParaRPr lang="en-US" sz="2000" dirty="0">
              <a:solidFill>
                <a:schemeClr val="tx2"/>
              </a:solidFill>
            </a:endParaRPr>
          </a:p>
          <a:p>
            <a:endParaRPr 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363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C1322-B91E-46F0-B508-068646734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</a:rPr>
              <a:t>Graph View</a:t>
            </a:r>
          </a:p>
        </p:txBody>
      </p:sp>
      <p:pic>
        <p:nvPicPr>
          <p:cNvPr id="7" name="Content Placeholder 6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A24D053B-208B-4394-A6A9-92814EBDBB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444" y="2762250"/>
            <a:ext cx="5124450" cy="2933700"/>
          </a:xfrm>
        </p:spPr>
      </p:pic>
    </p:spTree>
    <p:extLst>
      <p:ext uri="{BB962C8B-B14F-4D97-AF65-F5344CB8AC3E}">
        <p14:creationId xmlns:p14="http://schemas.microsoft.com/office/powerpoint/2010/main" val="1584607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4E830-73B6-4352-A9F1-C557B270B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466" y="991261"/>
            <a:ext cx="5754696" cy="1837349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SSSP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C31C1-CE05-4B04-969C-873C122F7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5954" y="2979336"/>
            <a:ext cx="5709721" cy="2430864"/>
          </a:xfrm>
        </p:spPr>
        <p:txBody>
          <a:bodyPr anchor="t">
            <a:normAutofit fontScale="92500" lnSpcReduction="20000"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Follows the direction as single source.</a:t>
            </a:r>
          </a:p>
          <a:p>
            <a:r>
              <a:rPr lang="en-US" sz="2000" dirty="0">
                <a:solidFill>
                  <a:schemeClr val="tx2"/>
                </a:solidFill>
              </a:rPr>
              <a:t>Arrows represents privileges for all nodes.</a:t>
            </a:r>
          </a:p>
          <a:p>
            <a:r>
              <a:rPr lang="en-US" sz="2000" dirty="0">
                <a:solidFill>
                  <a:schemeClr val="tx2"/>
                </a:solidFill>
              </a:rPr>
              <a:t>Directed Graph.</a:t>
            </a:r>
          </a:p>
          <a:p>
            <a:r>
              <a:rPr lang="en-US" sz="2000" dirty="0">
                <a:solidFill>
                  <a:schemeClr val="tx2"/>
                </a:solidFill>
              </a:rPr>
              <a:t>[A], [B] and [C] posses' freedom to traverse through most nodes.</a:t>
            </a:r>
          </a:p>
          <a:p>
            <a:r>
              <a:rPr lang="en-US" sz="2000" dirty="0">
                <a:solidFill>
                  <a:schemeClr val="tx2"/>
                </a:solidFill>
              </a:rPr>
              <a:t>[E] only take one route.</a:t>
            </a:r>
          </a:p>
          <a:p>
            <a:r>
              <a:rPr lang="en-US" sz="2000" dirty="0">
                <a:solidFill>
                  <a:schemeClr val="tx2"/>
                </a:solidFill>
              </a:rPr>
              <a:t>[D] gets visited by every node.</a:t>
            </a:r>
          </a:p>
        </p:txBody>
      </p:sp>
    </p:spTree>
    <p:extLst>
      <p:ext uri="{BB962C8B-B14F-4D97-AF65-F5344CB8AC3E}">
        <p14:creationId xmlns:p14="http://schemas.microsoft.com/office/powerpoint/2010/main" val="867359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A6211-671E-4730-93D9-364823C77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</a:rPr>
              <a:t>Shortest Path Operation.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69D71-27C4-46CA-8DBB-09150386F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0412" y="2979335"/>
            <a:ext cx="5709721" cy="3509387"/>
          </a:xfrm>
        </p:spPr>
        <p:txBody>
          <a:bodyPr anchor="t">
            <a:normAutofit fontScale="85000" lnSpcReduction="20000"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Not all vertices includes shortest path.</a:t>
            </a:r>
          </a:p>
          <a:p>
            <a:r>
              <a:rPr lang="en-US" sz="2000" dirty="0">
                <a:solidFill>
                  <a:schemeClr val="tx2"/>
                </a:solidFill>
              </a:rPr>
              <a:t>Beginning Source [A], Weight = infinity</a:t>
            </a:r>
          </a:p>
          <a:p>
            <a:r>
              <a:rPr lang="en-US" sz="2000" dirty="0">
                <a:solidFill>
                  <a:schemeClr val="tx2"/>
                </a:solidFill>
              </a:rPr>
              <a:t>Source [A] to [B], Weight =4 </a:t>
            </a:r>
          </a:p>
          <a:p>
            <a:r>
              <a:rPr lang="en-US" sz="2000" dirty="0">
                <a:solidFill>
                  <a:schemeClr val="tx2"/>
                </a:solidFill>
              </a:rPr>
              <a:t>Source [A] to [C], Weight = 2</a:t>
            </a:r>
          </a:p>
          <a:p>
            <a:r>
              <a:rPr lang="en-US" sz="2000" dirty="0">
                <a:solidFill>
                  <a:schemeClr val="tx2"/>
                </a:solidFill>
              </a:rPr>
              <a:t>Source [A] to [D], Weight = infinity (no direct paths)</a:t>
            </a:r>
          </a:p>
          <a:p>
            <a:r>
              <a:rPr lang="en-US" sz="2000" dirty="0">
                <a:solidFill>
                  <a:schemeClr val="tx2"/>
                </a:solidFill>
              </a:rPr>
              <a:t>Uses Neighbour nodes as a gateway. </a:t>
            </a:r>
          </a:p>
          <a:p>
            <a:r>
              <a:rPr lang="en-US" sz="2000" dirty="0">
                <a:solidFill>
                  <a:schemeClr val="tx2"/>
                </a:solidFill>
              </a:rPr>
              <a:t>Source [A] to [D] via [B] Weight = 6</a:t>
            </a:r>
          </a:p>
          <a:p>
            <a:r>
              <a:rPr lang="en-US" sz="2000" dirty="0">
                <a:solidFill>
                  <a:schemeClr val="tx2"/>
                </a:solidFill>
              </a:rPr>
              <a:t>Source [A] to [D] via [C], Weight = 6</a:t>
            </a:r>
          </a:p>
          <a:p>
            <a:r>
              <a:rPr lang="en-US" sz="2000" dirty="0">
                <a:solidFill>
                  <a:schemeClr val="tx2"/>
                </a:solidFill>
              </a:rPr>
              <a:t>Source [A] to [D] via [C],[E], Weight = 8</a:t>
            </a:r>
          </a:p>
          <a:p>
            <a:r>
              <a:rPr lang="en-US" sz="2000" dirty="0">
                <a:solidFill>
                  <a:schemeClr val="tx2"/>
                </a:solidFill>
              </a:rPr>
              <a:t>Picks Route via [B] or  [C] (low cost) </a:t>
            </a:r>
          </a:p>
          <a:p>
            <a:pPr marL="0" indent="0">
              <a:buNone/>
            </a:pPr>
            <a:endParaRPr 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8520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327FA-746E-4AA3-96EE-3B9C31181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402" y="-17839"/>
            <a:ext cx="5754696" cy="859135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</a:rPr>
              <a:t>Python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856F3-FB01-4485-82F2-074D86BDA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309" y="678873"/>
            <a:ext cx="11222182" cy="6276109"/>
          </a:xfrm>
        </p:spPr>
        <p:txBody>
          <a:bodyPr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Def </a:t>
            </a:r>
            <a:r>
              <a:rPr lang="en-US" sz="2000" dirty="0" err="1">
                <a:solidFill>
                  <a:schemeClr val="tx2"/>
                </a:solidFill>
              </a:rPr>
              <a:t>dijsktra</a:t>
            </a:r>
            <a:r>
              <a:rPr lang="en-US" sz="2000" dirty="0">
                <a:solidFill>
                  <a:schemeClr val="tx2"/>
                </a:solidFill>
              </a:rPr>
              <a:t> (graph, initial):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	visited = {initial: 0}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	path = {}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	nodes = set(</a:t>
            </a:r>
            <a:r>
              <a:rPr lang="en-US" sz="2000" dirty="0" err="1">
                <a:solidFill>
                  <a:schemeClr val="tx2"/>
                </a:solidFill>
              </a:rPr>
              <a:t>graph.nodes</a:t>
            </a:r>
            <a:r>
              <a:rPr lang="en-US" sz="2000" dirty="0">
                <a:solidFill>
                  <a:schemeClr val="tx2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	while nodes: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		</a:t>
            </a:r>
            <a:r>
              <a:rPr lang="en-US" sz="2000" dirty="0" err="1">
                <a:solidFill>
                  <a:schemeClr val="tx2"/>
                </a:solidFill>
              </a:rPr>
              <a:t>min_node</a:t>
            </a:r>
            <a:r>
              <a:rPr lang="en-US" sz="2000" dirty="0">
                <a:solidFill>
                  <a:schemeClr val="tx2"/>
                </a:solidFill>
              </a:rPr>
              <a:t> = None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		for node in nodes: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			if node is visited: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				if </a:t>
            </a:r>
            <a:r>
              <a:rPr lang="en-US" sz="2000" dirty="0" err="1">
                <a:solidFill>
                  <a:schemeClr val="tx2"/>
                </a:solidFill>
              </a:rPr>
              <a:t>min_node</a:t>
            </a:r>
            <a:r>
              <a:rPr lang="en-US" sz="2000" dirty="0">
                <a:solidFill>
                  <a:schemeClr val="tx2"/>
                </a:solidFill>
              </a:rPr>
              <a:t> is None: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					</a:t>
            </a:r>
            <a:r>
              <a:rPr lang="en-US" sz="2000" dirty="0" err="1">
                <a:solidFill>
                  <a:schemeClr val="tx2"/>
                </a:solidFill>
              </a:rPr>
              <a:t>min_node</a:t>
            </a:r>
            <a:r>
              <a:rPr lang="en-US" sz="2000" dirty="0">
                <a:solidFill>
                  <a:schemeClr val="tx2"/>
                </a:solidFill>
              </a:rPr>
              <a:t> = node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				</a:t>
            </a:r>
            <a:r>
              <a:rPr lang="en-US" sz="2000" dirty="0" err="1">
                <a:solidFill>
                  <a:schemeClr val="tx2"/>
                </a:solidFill>
              </a:rPr>
              <a:t>elif</a:t>
            </a:r>
            <a:r>
              <a:rPr lang="en-US" sz="2000" dirty="0">
                <a:solidFill>
                  <a:schemeClr val="tx2"/>
                </a:solidFill>
              </a:rPr>
              <a:t> visited[node[ &lt; visited[</a:t>
            </a:r>
            <a:r>
              <a:rPr lang="en-US" sz="2000" dirty="0" err="1">
                <a:solidFill>
                  <a:schemeClr val="tx2"/>
                </a:solidFill>
              </a:rPr>
              <a:t>min_node</a:t>
            </a:r>
            <a:r>
              <a:rPr lang="en-US" sz="2000" dirty="0">
                <a:solidFill>
                  <a:schemeClr val="tx2"/>
                </a:solidFill>
              </a:rPr>
              <a:t>]: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					</a:t>
            </a:r>
            <a:r>
              <a:rPr lang="en-US" sz="2000" dirty="0" err="1">
                <a:solidFill>
                  <a:schemeClr val="tx2"/>
                </a:solidFill>
              </a:rPr>
              <a:t>min_node</a:t>
            </a:r>
            <a:r>
              <a:rPr lang="en-US" sz="2000" dirty="0">
                <a:solidFill>
                  <a:schemeClr val="tx2"/>
                </a:solidFill>
              </a:rPr>
              <a:t> = node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			if </a:t>
            </a:r>
            <a:r>
              <a:rPr lang="en-US" sz="2000" dirty="0" err="1">
                <a:solidFill>
                  <a:schemeClr val="tx2"/>
                </a:solidFill>
              </a:rPr>
              <a:t>min_node</a:t>
            </a:r>
            <a:r>
              <a:rPr lang="en-US" sz="2000" dirty="0">
                <a:solidFill>
                  <a:schemeClr val="tx2"/>
                </a:solidFill>
              </a:rPr>
              <a:t> is None: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			break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			</a:t>
            </a:r>
            <a:r>
              <a:rPr lang="en-US" sz="2000" dirty="0" err="1">
                <a:solidFill>
                  <a:schemeClr val="tx2"/>
                </a:solidFill>
              </a:rPr>
              <a:t>nodes.remove</a:t>
            </a:r>
            <a:r>
              <a:rPr lang="en-US" sz="2000" dirty="0">
                <a:solidFill>
                  <a:schemeClr val="tx2"/>
                </a:solidFill>
              </a:rPr>
              <a:t>(</a:t>
            </a:r>
            <a:r>
              <a:rPr lang="en-US" sz="2000" dirty="0" err="1">
                <a:solidFill>
                  <a:schemeClr val="tx2"/>
                </a:solidFill>
              </a:rPr>
              <a:t>min_node</a:t>
            </a:r>
            <a:r>
              <a:rPr lang="en-US" sz="2000" dirty="0">
                <a:solidFill>
                  <a:schemeClr val="tx2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			</a:t>
            </a:r>
            <a:r>
              <a:rPr lang="en-US" sz="2000" dirty="0" err="1">
                <a:solidFill>
                  <a:schemeClr val="tx2"/>
                </a:solidFill>
              </a:rPr>
              <a:t>current_weight</a:t>
            </a:r>
            <a:r>
              <a:rPr lang="en-US" sz="2000" dirty="0">
                <a:solidFill>
                  <a:schemeClr val="tx2"/>
                </a:solidFill>
              </a:rPr>
              <a:t> = visited[</a:t>
            </a:r>
            <a:r>
              <a:rPr lang="en-US" sz="2000" dirty="0" err="1">
                <a:solidFill>
                  <a:schemeClr val="tx2"/>
                </a:solidFill>
              </a:rPr>
              <a:t>min_node</a:t>
            </a:r>
            <a:r>
              <a:rPr lang="en-US" sz="2000" dirty="0">
                <a:solidFill>
                  <a:schemeClr val="tx2"/>
                </a:solidFill>
              </a:rPr>
              <a:t>]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			for edge  in </a:t>
            </a:r>
            <a:r>
              <a:rPr lang="en-US" sz="2000" dirty="0" err="1">
                <a:solidFill>
                  <a:schemeClr val="tx2"/>
                </a:solidFill>
              </a:rPr>
              <a:t>graph.edges</a:t>
            </a:r>
            <a:r>
              <a:rPr lang="en-US" sz="2000" dirty="0">
                <a:solidFill>
                  <a:schemeClr val="tx2"/>
                </a:solidFill>
              </a:rPr>
              <a:t>[</a:t>
            </a:r>
            <a:r>
              <a:rPr lang="en-US" sz="2000" dirty="0" err="1">
                <a:solidFill>
                  <a:schemeClr val="tx2"/>
                </a:solidFill>
              </a:rPr>
              <a:t>min_node</a:t>
            </a:r>
            <a:r>
              <a:rPr lang="en-US" sz="2000" dirty="0">
                <a:solidFill>
                  <a:schemeClr val="tx2"/>
                </a:solidFill>
              </a:rPr>
              <a:t>]: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				weight = current-weight + </a:t>
            </a:r>
            <a:r>
              <a:rPr lang="en-US" sz="2000" dirty="0" err="1">
                <a:solidFill>
                  <a:schemeClr val="tx2"/>
                </a:solidFill>
              </a:rPr>
              <a:t>graph.distance</a:t>
            </a:r>
            <a:r>
              <a:rPr lang="en-US" sz="2000" dirty="0">
                <a:solidFill>
                  <a:schemeClr val="tx2"/>
                </a:solidFill>
              </a:rPr>
              <a:t>[(</a:t>
            </a:r>
            <a:r>
              <a:rPr lang="en-US" sz="2000" dirty="0" err="1">
                <a:solidFill>
                  <a:schemeClr val="tx2"/>
                </a:solidFill>
              </a:rPr>
              <a:t>min_node</a:t>
            </a:r>
            <a:r>
              <a:rPr lang="en-US" sz="2000" dirty="0">
                <a:solidFill>
                  <a:schemeClr val="tx2"/>
                </a:solidFill>
              </a:rPr>
              <a:t>, edge)]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			if edge not in visited or weight &lt; visited[edge]: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			visited[edge] = weight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			path[edge] = </a:t>
            </a:r>
            <a:r>
              <a:rPr lang="en-US" sz="2000" dirty="0" err="1">
                <a:solidFill>
                  <a:schemeClr val="tx2"/>
                </a:solidFill>
              </a:rPr>
              <a:t>min_node</a:t>
            </a:r>
            <a:endParaRPr lang="en-US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	return visited, path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 https://gist.github.com/econchick/4666413</a:t>
            </a:r>
          </a:p>
        </p:txBody>
      </p:sp>
    </p:spTree>
    <p:extLst>
      <p:ext uri="{BB962C8B-B14F-4D97-AF65-F5344CB8AC3E}">
        <p14:creationId xmlns:p14="http://schemas.microsoft.com/office/powerpoint/2010/main" val="3566806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66AEAD-02F6-4BDC-BDC8-6A5BB6C070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1704" b="25949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EC4C41-9AA3-408C-B860-2D3DC6D4E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71450" y="2559203"/>
            <a:ext cx="9144000" cy="1463677"/>
          </a:xfrm>
        </p:spPr>
        <p:txBody>
          <a:bodyPr>
            <a:normAutofit/>
          </a:bodyPr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BB3DB1-48E2-4C3D-ABB3-C6EA35C7D4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258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6B3AB-36B6-4E19-80B9-21203BD6C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4866" y="1574347"/>
            <a:ext cx="2802224" cy="106680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94F35-7384-40BA-9CA6-B41F3E892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49325"/>
            <a:ext cx="9833548" cy="2945574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First developed by Mathematician “</a:t>
            </a:r>
            <a:r>
              <a:rPr lang="en-US" sz="1800" dirty="0" err="1">
                <a:solidFill>
                  <a:schemeClr val="tx2"/>
                </a:solidFill>
              </a:rPr>
              <a:t>Vojtecg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Jarnik</a:t>
            </a:r>
            <a:r>
              <a:rPr lang="en-US" sz="1800" dirty="0">
                <a:solidFill>
                  <a:schemeClr val="tx2"/>
                </a:solidFill>
              </a:rPr>
              <a:t>” in 1930.</a:t>
            </a:r>
          </a:p>
          <a:p>
            <a:r>
              <a:rPr lang="en-US" sz="1800" dirty="0">
                <a:solidFill>
                  <a:schemeClr val="tx2"/>
                </a:solidFill>
              </a:rPr>
              <a:t>Also Implements Greedy Approach like Dijkstra’s Algorithm.</a:t>
            </a:r>
          </a:p>
          <a:p>
            <a:r>
              <a:rPr lang="en-US" sz="1800" dirty="0">
                <a:solidFill>
                  <a:schemeClr val="tx2"/>
                </a:solidFill>
              </a:rPr>
              <a:t>Minimum Spanning Tree.</a:t>
            </a:r>
          </a:p>
          <a:p>
            <a:r>
              <a:rPr lang="en-US" sz="1800" dirty="0">
                <a:solidFill>
                  <a:schemeClr val="tx2"/>
                </a:solidFill>
              </a:rPr>
              <a:t>Every Edge comes with a cost.</a:t>
            </a:r>
          </a:p>
          <a:p>
            <a:r>
              <a:rPr lang="en-US" sz="1800" dirty="0">
                <a:solidFill>
                  <a:schemeClr val="tx2"/>
                </a:solidFill>
              </a:rPr>
              <a:t>Generates shortest path from source to all available destinations.</a:t>
            </a:r>
          </a:p>
          <a:p>
            <a:r>
              <a:rPr lang="en-US" sz="1800" dirty="0">
                <a:solidFill>
                  <a:schemeClr val="tx2"/>
                </a:solidFill>
              </a:rPr>
              <a:t>Algorithm fails if created a cycle.</a:t>
            </a:r>
          </a:p>
          <a:p>
            <a:endParaRPr lang="en-US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7117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1DDEA-3D41-4CD4-A816-E03C744BA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196" y="1066800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</a:rPr>
              <a:t>Graph View</a:t>
            </a:r>
            <a:endParaRPr lang="en-US" sz="3600" dirty="0">
              <a:solidFill>
                <a:schemeClr val="tx2"/>
              </a:solidFill>
            </a:endParaRPr>
          </a:p>
        </p:txBody>
      </p:sp>
      <p:pic>
        <p:nvPicPr>
          <p:cNvPr id="5" name="Content Placeholder 4" descr="Chart, radar chart&#10;&#10;Description automatically generated">
            <a:extLst>
              <a:ext uri="{FF2B5EF4-FFF2-40B4-BE49-F238E27FC236}">
                <a16:creationId xmlns:a16="http://schemas.microsoft.com/office/drawing/2014/main" id="{3E919E9E-3B52-482E-9072-EAEFA9A16F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511" y="2667000"/>
            <a:ext cx="5650316" cy="3124200"/>
          </a:xfrm>
        </p:spPr>
      </p:pic>
    </p:spTree>
    <p:extLst>
      <p:ext uri="{BB962C8B-B14F-4D97-AF65-F5344CB8AC3E}">
        <p14:creationId xmlns:p14="http://schemas.microsoft.com/office/powerpoint/2010/main" val="3482526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B293B-4903-4AE6-B3E7-D49E5043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4866" y="1778435"/>
            <a:ext cx="3145640" cy="1066802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MST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B17F6-BDC7-45EA-9C99-1D31939E8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49325"/>
            <a:ext cx="9833548" cy="2945574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Time Complexity O (E log V).</a:t>
            </a:r>
          </a:p>
          <a:p>
            <a:r>
              <a:rPr lang="en-US" sz="1800" dirty="0">
                <a:solidFill>
                  <a:schemeClr val="tx2"/>
                </a:solidFill>
              </a:rPr>
              <a:t>Can Traverse through any direction from any source to destination.</a:t>
            </a:r>
          </a:p>
          <a:p>
            <a:r>
              <a:rPr lang="en-US" sz="1800" dirty="0">
                <a:solidFill>
                  <a:schemeClr val="tx2"/>
                </a:solidFill>
              </a:rPr>
              <a:t>Undirected Graph.</a:t>
            </a:r>
          </a:p>
          <a:p>
            <a:r>
              <a:rPr lang="en-US" sz="1800" dirty="0">
                <a:solidFill>
                  <a:schemeClr val="tx2"/>
                </a:solidFill>
              </a:rPr>
              <a:t>Algorithm Fails (Must not create cycles ).</a:t>
            </a:r>
          </a:p>
          <a:p>
            <a:r>
              <a:rPr lang="en-US" sz="1800" dirty="0">
                <a:solidFill>
                  <a:schemeClr val="tx2"/>
                </a:solidFill>
              </a:rPr>
              <a:t>Uses concept of cut graph theory.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076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92497-3297-4DC0-9E30-09537A9E0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</a:rPr>
              <a:t>Shortest Path Operation. 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E8CDC-D43C-40AE-8D3A-32580B755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3195814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Not all vertices includes shortest path.</a:t>
            </a:r>
          </a:p>
          <a:p>
            <a:r>
              <a:rPr lang="en-US" sz="1800" dirty="0">
                <a:solidFill>
                  <a:schemeClr val="tx2"/>
                </a:solidFill>
              </a:rPr>
              <a:t>Beginning Source Node [a], Weight = Infinity</a:t>
            </a:r>
          </a:p>
          <a:p>
            <a:r>
              <a:rPr lang="en-US" sz="1800" dirty="0">
                <a:solidFill>
                  <a:schemeClr val="tx2"/>
                </a:solidFill>
              </a:rPr>
              <a:t>Node [a] to Node[b], Weight = 4</a:t>
            </a:r>
          </a:p>
          <a:p>
            <a:r>
              <a:rPr lang="en-US" sz="1800" dirty="0">
                <a:solidFill>
                  <a:schemeClr val="tx2"/>
                </a:solidFill>
              </a:rPr>
              <a:t>Node[a] to Node[c] via Node[b], Weight = 12</a:t>
            </a:r>
          </a:p>
          <a:p>
            <a:r>
              <a:rPr lang="en-US" sz="1800" dirty="0">
                <a:solidFill>
                  <a:schemeClr val="tx2"/>
                </a:solidFill>
              </a:rPr>
              <a:t>Considers all edges with minimum cost.</a:t>
            </a:r>
          </a:p>
          <a:p>
            <a:r>
              <a:rPr lang="en-US" sz="1800" dirty="0">
                <a:solidFill>
                  <a:schemeClr val="tx2"/>
                </a:solidFill>
              </a:rPr>
              <a:t>Traversing while satisfying the conditions.</a:t>
            </a:r>
          </a:p>
          <a:p>
            <a:endParaRPr lang="en-US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130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55477-1D6C-4749-B3E5-75951797B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2790" y="0"/>
            <a:ext cx="5739245" cy="693161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tx2"/>
                </a:solidFill>
              </a:rPr>
              <a:t>Python Pseudocode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C2585-6984-4AB4-B09A-BB69FD7FD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3161"/>
            <a:ext cx="11353800" cy="548380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def primmest(self):</a:t>
            </a:r>
          </a:p>
          <a:p>
            <a:pPr marL="0" indent="0">
              <a:buNone/>
            </a:pPr>
            <a:r>
              <a:rPr lang="en-US" dirty="0"/>
              <a:t>	key = [</a:t>
            </a:r>
            <a:r>
              <a:rPr lang="en-US" dirty="0" err="1"/>
              <a:t>sys.maxint</a:t>
            </a:r>
            <a:r>
              <a:rPr lang="en-US" dirty="0"/>
              <a:t>]*</a:t>
            </a:r>
            <a:r>
              <a:rPr lang="en-US" dirty="0" err="1"/>
              <a:t>self.V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parent = [None]*</a:t>
            </a:r>
            <a:r>
              <a:rPr lang="en-US" dirty="0" err="1"/>
              <a:t>self.V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key[0] = 0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mstSet</a:t>
            </a:r>
            <a:r>
              <a:rPr lang="en-US" dirty="0"/>
              <a:t> = [False]*</a:t>
            </a:r>
            <a:r>
              <a:rPr lang="en-US" dirty="0" err="1"/>
              <a:t>self.V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parent[0] = -1</a:t>
            </a:r>
          </a:p>
          <a:p>
            <a:pPr marL="0" indent="0">
              <a:buNone/>
            </a:pPr>
            <a:r>
              <a:rPr lang="en-US" dirty="0"/>
              <a:t>	for </a:t>
            </a:r>
            <a:r>
              <a:rPr lang="en-US" dirty="0" err="1"/>
              <a:t>cout</a:t>
            </a:r>
            <a:r>
              <a:rPr lang="en-US" dirty="0"/>
              <a:t> in range(</a:t>
            </a:r>
            <a:r>
              <a:rPr lang="en-US" dirty="0" err="1"/>
              <a:t>self.V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		u = </a:t>
            </a:r>
            <a:r>
              <a:rPr lang="en-US" dirty="0" err="1"/>
              <a:t>self.minKey</a:t>
            </a:r>
            <a:r>
              <a:rPr lang="en-US" dirty="0"/>
              <a:t>(key, </a:t>
            </a:r>
            <a:r>
              <a:rPr lang="en-US" dirty="0" err="1"/>
              <a:t>mstSet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mstSet</a:t>
            </a:r>
            <a:r>
              <a:rPr lang="en-US" dirty="0"/>
              <a:t>[u] = True</a:t>
            </a:r>
          </a:p>
          <a:p>
            <a:pPr marL="0" indent="0">
              <a:buNone/>
            </a:pPr>
            <a:r>
              <a:rPr lang="en-US" dirty="0"/>
              <a:t>		for v in range (</a:t>
            </a:r>
            <a:r>
              <a:rPr lang="en-US" dirty="0" err="1"/>
              <a:t>self.V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			if </a:t>
            </a:r>
            <a:r>
              <a:rPr lang="en-US" dirty="0" err="1"/>
              <a:t>self.graph</a:t>
            </a:r>
            <a:r>
              <a:rPr lang="en-US" dirty="0"/>
              <a:t>[u][v]&gt;0 and </a:t>
            </a:r>
            <a:r>
              <a:rPr lang="en-US" dirty="0" err="1"/>
              <a:t>mstSet</a:t>
            </a:r>
            <a:r>
              <a:rPr lang="en-US" dirty="0"/>
              <a:t>[v] == False and key[v] &gt; 				</a:t>
            </a:r>
            <a:r>
              <a:rPr lang="en-US" dirty="0" err="1"/>
              <a:t>self.graph</a:t>
            </a:r>
            <a:r>
              <a:rPr lang="en-US" dirty="0"/>
              <a:t>[u][v]:</a:t>
            </a:r>
          </a:p>
          <a:p>
            <a:pPr marL="0" indent="0">
              <a:buNone/>
            </a:pPr>
            <a:r>
              <a:rPr lang="en-US" dirty="0"/>
              <a:t>			key[v] = </a:t>
            </a:r>
            <a:r>
              <a:rPr lang="en-US" dirty="0" err="1"/>
              <a:t>self.graph</a:t>
            </a:r>
            <a:r>
              <a:rPr lang="en-US" dirty="0"/>
              <a:t>[u][v]</a:t>
            </a:r>
          </a:p>
          <a:p>
            <a:pPr marL="0" indent="0">
              <a:buNone/>
            </a:pPr>
            <a:r>
              <a:rPr lang="en-US" dirty="0"/>
              <a:t>			parent[v] = u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self.printMST</a:t>
            </a:r>
            <a:r>
              <a:rPr lang="en-US" dirty="0"/>
              <a:t>(parent)</a:t>
            </a:r>
          </a:p>
          <a:p>
            <a:pPr marL="0" indent="0">
              <a:buNone/>
            </a:pPr>
            <a:r>
              <a:rPr lang="en-US" dirty="0"/>
              <a:t>https://www.geeksforgeeks.org/prims-minimum-spanning-tree-mst-greedy-algo-5/</a:t>
            </a:r>
          </a:p>
        </p:txBody>
      </p:sp>
    </p:spTree>
    <p:extLst>
      <p:ext uri="{BB962C8B-B14F-4D97-AF65-F5344CB8AC3E}">
        <p14:creationId xmlns:p14="http://schemas.microsoft.com/office/powerpoint/2010/main" val="28976960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83</TotalTime>
  <Words>786</Words>
  <Application>Microsoft Office PowerPoint</Application>
  <PresentationFormat>Widescreen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Corbel</vt:lpstr>
      <vt:lpstr>Parallax</vt:lpstr>
      <vt:lpstr>DIJKSTRA’S ALGORITHM</vt:lpstr>
      <vt:lpstr>DEFINITION</vt:lpstr>
      <vt:lpstr>Graph View</vt:lpstr>
      <vt:lpstr>SSSP Review</vt:lpstr>
      <vt:lpstr>Shortest Path Operation. </vt:lpstr>
      <vt:lpstr>Python Pseudocode</vt:lpstr>
      <vt:lpstr>PRIM’S ALGORITHM</vt:lpstr>
      <vt:lpstr>DEFINITION</vt:lpstr>
      <vt:lpstr>Graph View</vt:lpstr>
      <vt:lpstr>MST Review</vt:lpstr>
      <vt:lpstr>Shortest Path Operation. </vt:lpstr>
      <vt:lpstr>Python Pseudocode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DIJKSTRA’S ALGORITHM</dc:title>
  <dc:creator>Tuladhar, Ayan</dc:creator>
  <cp:lastModifiedBy>Tuladhar, Ayan</cp:lastModifiedBy>
  <cp:revision>17</cp:revision>
  <dcterms:created xsi:type="dcterms:W3CDTF">2021-05-09T19:51:56Z</dcterms:created>
  <dcterms:modified xsi:type="dcterms:W3CDTF">2021-05-09T22:35:51Z</dcterms:modified>
</cp:coreProperties>
</file>